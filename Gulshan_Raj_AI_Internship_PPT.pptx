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4.png" ContentType="image/png"/>
  <Override PartName="/ppt/media/image12.png" ContentType="image/pn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7.png" ContentType="image/png"/>
  <Override PartName="/ppt/media/image15.png" ContentType="image/png"/>
  <Override PartName="/ppt/media/image10.png" ContentType="image/png"/>
  <Override PartName="/ppt/media/image2.png" ContentType="image/png"/>
  <Override PartName="/ppt/media/image11.png" ContentType="image/png"/>
  <Override PartName="/ppt/media/image3.png" ContentType="image/png"/>
  <Override PartName="/ppt/media/image8.png" ContentType="image/png"/>
  <Override PartName="/ppt/media/image20.png" ContentType="image/png"/>
  <Override PartName="/ppt/media/image16.png" ContentType="image/png"/>
  <Override PartName="/ppt/media/image9.png" ContentType="image/png"/>
  <Override PartName="/ppt/media/image21.png" ContentType="image/png"/>
  <Override PartName="/ppt/media/image17.png" ContentType="image/png"/>
  <Override PartName="/ppt/media/image18.png" ContentType="image/png"/>
  <Override PartName="/ppt/media/image26.jpeg" ContentType="image/jpeg"/>
  <Override PartName="/ppt/media/image22.png" ContentType="image/png"/>
  <Override PartName="/ppt/media/image23.png" ContentType="image/png"/>
  <Override PartName="/ppt/media/image24.png" ContentType="image/png"/>
  <Override PartName="/ppt/media/image19.png" ContentType="image/png"/>
  <Override PartName="/ppt/media/image2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21AD0188-141D-4532-9A78-5AF96AD21E5C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DC67C8-2E4D-4A11-8411-38AB57961E2F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25E8D4-39BC-48D5-9C56-EABB3A05C8E3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5F8B91-8183-4199-961B-F140A4490680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41F2E4-1049-41BB-9B7E-108358220DDE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EE73F3-8746-4530-A294-A676F5C63B94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2EBD39-DCC5-4F01-A6AC-122E9AF69507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B41E95-7FF6-42DD-B8B2-60D2BDCA59A2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EF1726-0A71-45BE-8786-2C135B0E7BB5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2897D5-C806-4562-B744-7AF1ED6D9AAC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DA9C4B-1CC9-45DF-8F83-C04EDFC0E4EE}" type="slidenum">
              <a:rPr b="0" lang="en-US" sz="18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1.png"/><Relationship Id="rId3" Type="http://schemas.openxmlformats.org/officeDocument/2006/relationships/image" Target="../media/image21.png"/><Relationship Id="rId4" Type="http://schemas.openxmlformats.org/officeDocument/2006/relationships/image" Target="../media/image21.png"/><Relationship Id="rId5" Type="http://schemas.openxmlformats.org/officeDocument/2006/relationships/image" Target="../media/image21.png"/><Relationship Id="rId6" Type="http://schemas.openxmlformats.org/officeDocument/2006/relationships/image" Target="../media/image21.png"/><Relationship Id="rId7" Type="http://schemas.openxmlformats.org/officeDocument/2006/relationships/image" Target="../media/image21.png"/><Relationship Id="rId8" Type="http://schemas.openxmlformats.org/officeDocument/2006/relationships/image" Target="../media/image21.png"/><Relationship Id="rId9" Type="http://schemas.openxmlformats.org/officeDocument/2006/relationships/image" Target="../media/image21.png"/><Relationship Id="rId10" Type="http://schemas.openxmlformats.org/officeDocument/2006/relationships/image" Target="../media/image21.png"/><Relationship Id="rId11" Type="http://schemas.openxmlformats.org/officeDocument/2006/relationships/image" Target="../media/image21.png"/><Relationship Id="rId12" Type="http://schemas.openxmlformats.org/officeDocument/2006/relationships/image" Target="../media/image2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966960" y="-1645920"/>
            <a:ext cx="4388400" cy="4388400"/>
          </a:xfrm>
          <a:prstGeom prst="ellipse">
            <a:avLst/>
          </a:prstGeom>
          <a:solidFill>
            <a:srgbClr val="242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1247120" y="3291840"/>
            <a:ext cx="2925360" cy="2925360"/>
          </a:xfrm>
          <a:prstGeom prst="ellipse">
            <a:avLst/>
          </a:prstGeom>
          <a:solidFill>
            <a:srgbClr val="242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280160" y="5120640"/>
            <a:ext cx="3291120" cy="3291120"/>
          </a:xfrm>
          <a:prstGeom prst="ellipse">
            <a:avLst/>
          </a:prstGeom>
          <a:solidFill>
            <a:srgbClr val="242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14173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d9b5"/>
                </a:solidFill>
                <a:uFillTx/>
                <a:latin typeface="Calibri"/>
                <a:ea typeface="Calibri"/>
              </a:rPr>
              <a:t>INTERNSHIP REPORT PRESENTATION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21720" y="1828800"/>
            <a:ext cx="86860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Artificial Intelligence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rgbClr val="c9c7f5"/>
                </a:solidFill>
                <a:uFillTx/>
                <a:latin typeface="Cambria"/>
                <a:ea typeface="Cambria"/>
              </a:rPr>
              <a:t>Internship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3520440"/>
            <a:ext cx="9600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eb0d8"/>
                </a:solidFill>
                <a:uFillTx/>
                <a:latin typeface="Calibri"/>
                <a:ea typeface="Calibri"/>
              </a:rPr>
              <a:t>Codec Technologies Pvt. Ltd.  |  AICTE &amp; ICAC Approved Program  |  Google for Education Partner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640080" y="4069080"/>
            <a:ext cx="1645920" cy="360"/>
          </a:xfrm>
          <a:prstGeom prst="line">
            <a:avLst/>
          </a:prstGeom>
          <a:ln w="31750">
            <a:solidFill>
              <a:srgbClr val="00d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40080" y="4343400"/>
            <a:ext cx="7314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Gulshan Raj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eb0d8"/>
                </a:solidFill>
                <a:uFillTx/>
                <a:latin typeface="Calibri"/>
                <a:ea typeface="Calibri"/>
              </a:rPr>
              <a:t>Roll No. 25SCS1003001289  |  B.Tech CSE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eb0d8"/>
                </a:solidFill>
                <a:uFillTx/>
                <a:latin typeface="Calibri"/>
                <a:ea typeface="Calibri"/>
              </a:rPr>
              <a:t>Session 2025 – 2029  |  IILM University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3839760" cy="6857280"/>
          </a:xfrm>
          <a:prstGeom prst="rect">
            <a:avLst/>
          </a:prstGeom>
          <a:solidFill>
            <a:srgbClr val="1b1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-1463040" y="4937760"/>
            <a:ext cx="3291120" cy="3291120"/>
          </a:xfrm>
          <a:prstGeom prst="ellipse">
            <a:avLst/>
          </a:prstGeom>
          <a:solidFill>
            <a:srgbClr val="242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1234440" y="1325880"/>
            <a:ext cx="1370880" cy="137088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" name="Image 0" descr="/home/claude/aliya_ppt/icons/user_graduate_FFFFFF.png"/>
          <p:cNvPicPr/>
          <p:nvPr/>
        </p:nvPicPr>
        <p:blipFill>
          <a:blip r:embed="rId1"/>
          <a:stretch/>
        </p:blipFill>
        <p:spPr>
          <a:xfrm>
            <a:off x="1577520" y="1668960"/>
            <a:ext cx="685080" cy="68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3"/>
          <p:cNvSpPr/>
          <p:nvPr/>
        </p:nvSpPr>
        <p:spPr>
          <a:xfrm>
            <a:off x="274320" y="2834640"/>
            <a:ext cx="3291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Gulshan Raj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274320" y="3520440"/>
            <a:ext cx="3291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9c7f5"/>
                </a:solidFill>
                <a:uFillTx/>
                <a:latin typeface="Calibri"/>
                <a:ea typeface="Calibri"/>
              </a:rPr>
              <a:t>B.Tech – Computer Science &amp; Engineering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343400" y="59436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ABOUT THE STUDENT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4297680" y="91440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Candidate Profile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4425840" y="184716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" name="Image 1" descr="/home/claude/aliya_ppt/icons/id_card_6C63FF.png"/>
          <p:cNvPicPr/>
          <p:nvPr/>
        </p:nvPicPr>
        <p:blipFill>
          <a:blip r:embed="rId2"/>
          <a:stretch/>
        </p:blipFill>
        <p:spPr>
          <a:xfrm>
            <a:off x="4567320" y="19890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8"/>
          <p:cNvSpPr/>
          <p:nvPr/>
        </p:nvSpPr>
        <p:spPr>
          <a:xfrm>
            <a:off x="5166360" y="1874520"/>
            <a:ext cx="5942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Roll Number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5166360" y="211212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25SCS1003001289</a:t>
            </a:r>
            <a:endParaRPr b="0" lang="en-US" sz="15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4425840" y="268848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" name="Image 2" descr="/home/claude/aliya_ppt/icons/university_6C63FF.png"/>
          <p:cNvPicPr/>
          <p:nvPr/>
        </p:nvPicPr>
        <p:blipFill>
          <a:blip r:embed="rId3"/>
          <a:stretch/>
        </p:blipFill>
        <p:spPr>
          <a:xfrm>
            <a:off x="4567320" y="28299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11"/>
          <p:cNvSpPr/>
          <p:nvPr/>
        </p:nvSpPr>
        <p:spPr>
          <a:xfrm>
            <a:off x="5166360" y="2715840"/>
            <a:ext cx="5942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Institute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5166360" y="295344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IILM University</a:t>
            </a:r>
            <a:endParaRPr b="0" lang="en-US" sz="15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4425840" y="352944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" name="Image 3" descr="/home/claude/aliya_ppt/icons/grad_cap_6C63FF.png"/>
          <p:cNvPicPr/>
          <p:nvPr/>
        </p:nvPicPr>
        <p:blipFill>
          <a:blip r:embed="rId4"/>
          <a:stretch/>
        </p:blipFill>
        <p:spPr>
          <a:xfrm>
            <a:off x="4567320" y="367128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4"/>
          <p:cNvSpPr/>
          <p:nvPr/>
        </p:nvSpPr>
        <p:spPr>
          <a:xfrm>
            <a:off x="5166360" y="3557160"/>
            <a:ext cx="5942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Programme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166360" y="379476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B.Tech CSE, Session 2025 – 2029</a:t>
            </a:r>
            <a:endParaRPr b="0" lang="en-US" sz="15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4425840" y="437076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7" name="Image 4" descr="/home/claude/aliya_ppt/icons/bullseye_6C63FF.png"/>
          <p:cNvPicPr/>
          <p:nvPr/>
        </p:nvPicPr>
        <p:blipFill>
          <a:blip r:embed="rId5"/>
          <a:stretch/>
        </p:blipFill>
        <p:spPr>
          <a:xfrm>
            <a:off x="4567320" y="45126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7"/>
          <p:cNvSpPr/>
          <p:nvPr/>
        </p:nvSpPr>
        <p:spPr>
          <a:xfrm>
            <a:off x="5166360" y="4398120"/>
            <a:ext cx="5942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Internship Domain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5166360" y="46360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Artificial Intelligence</a:t>
            </a:r>
            <a:endParaRPr b="0" lang="en-US" sz="15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4425840" y="521208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1" name="Image 5" descr="/home/claude/aliya_ppt/icons/calendar_6C63FF.png"/>
          <p:cNvPicPr/>
          <p:nvPr/>
        </p:nvPicPr>
        <p:blipFill>
          <a:blip r:embed="rId6"/>
          <a:stretch/>
        </p:blipFill>
        <p:spPr>
          <a:xfrm>
            <a:off x="4567320" y="535392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20"/>
          <p:cNvSpPr/>
          <p:nvPr/>
        </p:nvSpPr>
        <p:spPr>
          <a:xfrm>
            <a:off x="5166360" y="5239440"/>
            <a:ext cx="5942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Duration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5166360" y="547740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2 Months  |  07 June 2026 – 08 August 2026</a:t>
            </a:r>
            <a:endParaRPr b="0" lang="en-US" sz="15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Google AI-ML Virtual Internship  •  Gulshan Raj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 23"/>
          <p:cNvSpPr/>
          <p:nvPr/>
        </p:nvSpPr>
        <p:spPr>
          <a:xfrm>
            <a:off x="1127448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02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640080" y="5486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ABOUT THE PROGRAM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621720" y="86868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Codec Technologies, AICTE &amp; Google for Education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640080" y="1783080"/>
            <a:ext cx="108806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Codec Technologies Pvt. Ltd. runs an AICTE &amp; ICAC approved internship program, offered as a Google for Education partner initiative. This 2-month Artificial Intelligence Intern track gave hands-on, industry-aligned exposure to core AI and machine learning concepts, moving beyond classroom theory into practical, applied learning.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640080" y="3200400"/>
            <a:ext cx="3565440" cy="25138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rotWithShape="0">
              <a:srgbClr val="1b1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1965960" y="3337560"/>
            <a:ext cx="913680" cy="9136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" name="Image 0" descr="/home/claude/aliya_ppt/icons/certificate_6C63FF.png"/>
          <p:cNvPicPr/>
          <p:nvPr/>
        </p:nvPicPr>
        <p:blipFill>
          <a:blip r:embed="rId1"/>
          <a:stretch/>
        </p:blipFill>
        <p:spPr>
          <a:xfrm>
            <a:off x="2194560" y="35661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5"/>
          <p:cNvSpPr/>
          <p:nvPr/>
        </p:nvSpPr>
        <p:spPr>
          <a:xfrm>
            <a:off x="868680" y="43434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AICTE &amp; ICAC Approved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960120" y="4846320"/>
            <a:ext cx="2925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Recognised internship program under national skilling initiatives.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4526280" y="3200400"/>
            <a:ext cx="3565440" cy="25138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rotWithShape="0">
              <a:srgbClr val="1b1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5852160" y="3337560"/>
            <a:ext cx="913680" cy="9136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6" name="Image 1" descr="/home/claude/aliya_ppt/icons/building_6C63FF.png"/>
          <p:cNvPicPr/>
          <p:nvPr/>
        </p:nvPicPr>
        <p:blipFill>
          <a:blip r:embed="rId2"/>
          <a:stretch/>
        </p:blipFill>
        <p:spPr>
          <a:xfrm>
            <a:off x="6080760" y="35661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9"/>
          <p:cNvSpPr/>
          <p:nvPr/>
        </p:nvSpPr>
        <p:spPr>
          <a:xfrm>
            <a:off x="4754880" y="43434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Codec Technologies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4846320" y="4846320"/>
            <a:ext cx="2925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Industry mentorship from Codec Technologies Pvt. Ltd.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8412480" y="3200400"/>
            <a:ext cx="3565440" cy="25138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rotWithShape="0">
              <a:srgbClr val="1b1b3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9738360" y="3337560"/>
            <a:ext cx="913680" cy="9136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1" name="Image 2" descr="/home/claude/aliya_ppt/icons/grad_cap_6C63FF.png"/>
          <p:cNvPicPr/>
          <p:nvPr/>
        </p:nvPicPr>
        <p:blipFill>
          <a:blip r:embed="rId3"/>
          <a:stretch/>
        </p:blipFill>
        <p:spPr>
          <a:xfrm>
            <a:off x="9966960" y="35661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3"/>
          <p:cNvSpPr/>
          <p:nvPr/>
        </p:nvSpPr>
        <p:spPr>
          <a:xfrm>
            <a:off x="8641080" y="43434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Google for Education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8732520" y="4846320"/>
            <a:ext cx="2925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Delivered as part of the Google for Education partner network.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Google AI-ML Virtual Internship  •  Gulshan Raj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1127448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03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640080" y="5486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PROBLEM STATEMENT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621720" y="86868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Bridging Theory and Applied AI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640080" y="1828800"/>
            <a:ext cx="10880640" cy="1462320"/>
          </a:xfrm>
          <a:prstGeom prst="roundRect">
            <a:avLst>
              <a:gd name="adj" fmla="val 6250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914400" y="203004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Engineering students often learn the theoretical foundations of Artificial Intelligence and Machine Learning in coursework, but rarely get structured, hands-on practice applying core concepts — like Python-based model building, neural networks, and real-world AI applications — to solve practical problems.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640080" y="361188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This internship addressed that gap — building a practical, project-based AI workflow: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640080" y="4160520"/>
            <a:ext cx="2513880" cy="1462320"/>
          </a:xfrm>
          <a:prstGeom prst="roundRect">
            <a:avLst>
              <a:gd name="adj" fmla="val 6250"/>
            </a:avLst>
          </a:prstGeom>
          <a:solidFill>
            <a:srgbClr val="1b1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1577520" y="4297680"/>
            <a:ext cx="639360" cy="63936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3" name="Image 0" descr="/home/claude/aliya_ppt/icons/code_00D9B5.png"/>
          <p:cNvPicPr/>
          <p:nvPr/>
        </p:nvPicPr>
        <p:blipFill>
          <a:blip r:embed="rId1"/>
          <a:stretch/>
        </p:blipFill>
        <p:spPr>
          <a:xfrm>
            <a:off x="1737360" y="44578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7"/>
          <p:cNvSpPr/>
          <p:nvPr/>
        </p:nvSpPr>
        <p:spPr>
          <a:xfrm>
            <a:off x="731520" y="502920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Learn Python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3154680" y="4480560"/>
            <a:ext cx="273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→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3429000" y="4160520"/>
            <a:ext cx="2513880" cy="1462320"/>
          </a:xfrm>
          <a:prstGeom prst="roundRect">
            <a:avLst>
              <a:gd name="adj" fmla="val 6250"/>
            </a:avLst>
          </a:prstGeom>
          <a:solidFill>
            <a:srgbClr val="1b1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4366440" y="4297680"/>
            <a:ext cx="639360" cy="63936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8" name="Image 1" descr="/home/claude/aliya_ppt/icons/brain_00D9B5.png"/>
          <p:cNvPicPr/>
          <p:nvPr/>
        </p:nvPicPr>
        <p:blipFill>
          <a:blip r:embed="rId2"/>
          <a:stretch/>
        </p:blipFill>
        <p:spPr>
          <a:xfrm>
            <a:off x="4526280" y="44578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11"/>
          <p:cNvSpPr/>
          <p:nvPr/>
        </p:nvSpPr>
        <p:spPr>
          <a:xfrm>
            <a:off x="3520440" y="502920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Understand ML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5943600" y="4480560"/>
            <a:ext cx="273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→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6217920" y="4160520"/>
            <a:ext cx="2513880" cy="1462320"/>
          </a:xfrm>
          <a:prstGeom prst="roundRect">
            <a:avLst>
              <a:gd name="adj" fmla="val 6250"/>
            </a:avLst>
          </a:prstGeom>
          <a:solidFill>
            <a:srgbClr val="1b1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Shape 14"/>
          <p:cNvSpPr/>
          <p:nvPr/>
        </p:nvSpPr>
        <p:spPr>
          <a:xfrm>
            <a:off x="7155360" y="4297680"/>
            <a:ext cx="639360" cy="63936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3" name="Image 2" descr="/home/claude/aliya_ppt/icons/project_diagram_00D9B5.png"/>
          <p:cNvPicPr/>
          <p:nvPr/>
        </p:nvPicPr>
        <p:blipFill>
          <a:blip r:embed="rId3"/>
          <a:stretch/>
        </p:blipFill>
        <p:spPr>
          <a:xfrm>
            <a:off x="7315200" y="44578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15"/>
          <p:cNvSpPr/>
          <p:nvPr/>
        </p:nvSpPr>
        <p:spPr>
          <a:xfrm>
            <a:off x="6309360" y="502920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Build Neural Nets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8732520" y="4480560"/>
            <a:ext cx="273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→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9006840" y="4160520"/>
            <a:ext cx="2513880" cy="1462320"/>
          </a:xfrm>
          <a:prstGeom prst="roundRect">
            <a:avLst>
              <a:gd name="adj" fmla="val 6250"/>
            </a:avLst>
          </a:prstGeom>
          <a:solidFill>
            <a:srgbClr val="1b1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9944280" y="4297680"/>
            <a:ext cx="639360" cy="63936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8" name="Image 3" descr="/home/claude/aliya_ppt/icons/robot_00D9B5.png"/>
          <p:cNvPicPr/>
          <p:nvPr/>
        </p:nvPicPr>
        <p:blipFill>
          <a:blip r:embed="rId4"/>
          <a:stretch/>
        </p:blipFill>
        <p:spPr>
          <a:xfrm>
            <a:off x="10104120" y="44578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9"/>
          <p:cNvSpPr/>
          <p:nvPr/>
        </p:nvSpPr>
        <p:spPr>
          <a:xfrm>
            <a:off x="9098280" y="502920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Apply AI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Google AI-ML Virtual Internship  •  Gulshan Raj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1127448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04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640080" y="5486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INTERNSHIP OBJECTIVES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621720" y="86868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What the Internship Set Out to Achieve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640080" y="1828800"/>
            <a:ext cx="3519720" cy="1553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rotWithShape="0">
              <a:srgbClr val="1b1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859680" y="200268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6" name="Image 0" descr="/home/claude/aliya_ppt/icons/code_6C63FF.png"/>
          <p:cNvPicPr/>
          <p:nvPr/>
        </p:nvPicPr>
        <p:blipFill>
          <a:blip r:embed="rId1"/>
          <a:stretch/>
        </p:blipFill>
        <p:spPr>
          <a:xfrm>
            <a:off x="1001160" y="21441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4"/>
          <p:cNvSpPr/>
          <p:nvPr/>
        </p:nvSpPr>
        <p:spPr>
          <a:xfrm>
            <a:off x="1508760" y="1993320"/>
            <a:ext cx="2513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Learn Python for AI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868680" y="2606040"/>
            <a:ext cx="3062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Build strong Python foundations as the core language for AI &amp; ML development.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4480560" y="1828800"/>
            <a:ext cx="3519720" cy="1553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rotWithShape="0">
              <a:srgbClr val="1b1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4700160" y="200268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1" name="Image 1" descr="/home/claude/aliya_ppt/icons/brain_6C63FF.png"/>
          <p:cNvPicPr/>
          <p:nvPr/>
        </p:nvPicPr>
        <p:blipFill>
          <a:blip r:embed="rId2"/>
          <a:stretch/>
        </p:blipFill>
        <p:spPr>
          <a:xfrm>
            <a:off x="4841640" y="21441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8"/>
          <p:cNvSpPr/>
          <p:nvPr/>
        </p:nvSpPr>
        <p:spPr>
          <a:xfrm>
            <a:off x="5349240" y="1993320"/>
            <a:ext cx="2513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Understand Machine Learning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4709160" y="2606040"/>
            <a:ext cx="3062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Grasp ML fundamentals — supervised/unsupervised learning, and how models learn from data.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8321040" y="1828800"/>
            <a:ext cx="3519720" cy="1553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rotWithShape="0">
              <a:srgbClr val="1b1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Shape 11"/>
          <p:cNvSpPr/>
          <p:nvPr/>
        </p:nvSpPr>
        <p:spPr>
          <a:xfrm>
            <a:off x="8540640" y="200268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6" name="Image 2" descr="/home/claude/aliya_ppt/icons/project_diagram_6C63FF.png"/>
          <p:cNvPicPr/>
          <p:nvPr/>
        </p:nvPicPr>
        <p:blipFill>
          <a:blip r:embed="rId3"/>
          <a:stretch/>
        </p:blipFill>
        <p:spPr>
          <a:xfrm>
            <a:off x="8682120" y="21441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12"/>
          <p:cNvSpPr/>
          <p:nvPr/>
        </p:nvSpPr>
        <p:spPr>
          <a:xfrm>
            <a:off x="9189720" y="1993320"/>
            <a:ext cx="2513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Explore Neural Networks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8549640" y="2606040"/>
            <a:ext cx="3062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Understand the structure and working of neural networks used in modern AI systems.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640080" y="3703320"/>
            <a:ext cx="3519720" cy="1553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rotWithShape="0">
              <a:srgbClr val="1b1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859680" y="387720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1" name="Image 3" descr="/home/claude/aliya_ppt/icons/robot_6C63FF.png"/>
          <p:cNvPicPr/>
          <p:nvPr/>
        </p:nvPicPr>
        <p:blipFill>
          <a:blip r:embed="rId4"/>
          <a:stretch/>
        </p:blipFill>
        <p:spPr>
          <a:xfrm>
            <a:off x="1001160" y="401868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6"/>
          <p:cNvSpPr/>
          <p:nvPr/>
        </p:nvSpPr>
        <p:spPr>
          <a:xfrm>
            <a:off x="1508760" y="3867840"/>
            <a:ext cx="2513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Apply AI Concepts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868680" y="4480560"/>
            <a:ext cx="3062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Translate theory into applied AI use-cases and simple real-world problem solving.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4480560" y="3703320"/>
            <a:ext cx="3519720" cy="1553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rotWithShape="0">
              <a:srgbClr val="1b1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Shape 19"/>
          <p:cNvSpPr/>
          <p:nvPr/>
        </p:nvSpPr>
        <p:spPr>
          <a:xfrm>
            <a:off x="4700160" y="387720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6" name="Image 4" descr="/home/claude/aliya_ppt/icons/chart_6C63FF.png"/>
          <p:cNvPicPr/>
          <p:nvPr/>
        </p:nvPicPr>
        <p:blipFill>
          <a:blip r:embed="rId5"/>
          <a:stretch/>
        </p:blipFill>
        <p:spPr>
          <a:xfrm>
            <a:off x="4841640" y="401868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20"/>
          <p:cNvSpPr/>
          <p:nvPr/>
        </p:nvSpPr>
        <p:spPr>
          <a:xfrm>
            <a:off x="5349240" y="3867840"/>
            <a:ext cx="2513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Evaluate Models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4709160" y="4480560"/>
            <a:ext cx="3062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Learn to assess model performance and understand accuracy, training &amp; testing basics.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8321040" y="3703320"/>
            <a:ext cx="3519720" cy="1553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rotWithShape="0">
              <a:srgbClr val="1b1b3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Shape 23"/>
          <p:cNvSpPr/>
          <p:nvPr/>
        </p:nvSpPr>
        <p:spPr>
          <a:xfrm>
            <a:off x="8540640" y="3877200"/>
            <a:ext cx="566280" cy="566280"/>
          </a:xfrm>
          <a:prstGeom prst="ellipse">
            <a:avLst/>
          </a:prstGeom>
          <a:solidFill>
            <a:srgbClr val="eee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1" name="Image 5" descr="/home/claude/aliya_ppt/icons/check_circle_6C63FF.png"/>
          <p:cNvPicPr/>
          <p:nvPr/>
        </p:nvPicPr>
        <p:blipFill>
          <a:blip r:embed="rId6"/>
          <a:stretch/>
        </p:blipFill>
        <p:spPr>
          <a:xfrm>
            <a:off x="8682120" y="401868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24"/>
          <p:cNvSpPr/>
          <p:nvPr/>
        </p:nvSpPr>
        <p:spPr>
          <a:xfrm>
            <a:off x="9189720" y="3867840"/>
            <a:ext cx="2513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Complete Assessments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 25"/>
          <p:cNvSpPr/>
          <p:nvPr/>
        </p:nvSpPr>
        <p:spPr>
          <a:xfrm>
            <a:off x="8549640" y="4480560"/>
            <a:ext cx="3062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Clear program modules and assessments to earn the internship certification.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 26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Google AI-ML Virtual Internship  •  Gulshan Raj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 27"/>
          <p:cNvSpPr/>
          <p:nvPr/>
        </p:nvSpPr>
        <p:spPr>
          <a:xfrm>
            <a:off x="1127448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05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640080" y="5486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TECHNOLOGIES &amp; TOOLS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621720" y="86868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The Toolkit Behind the Internship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640080" y="1874520"/>
            <a:ext cx="2605320" cy="196524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1554480" y="2052720"/>
            <a:ext cx="776520" cy="7765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0" name="Image 0" descr="/home/claude/aliya_ppt/icons/code_6C63FF.png"/>
          <p:cNvPicPr/>
          <p:nvPr/>
        </p:nvPicPr>
        <p:blipFill>
          <a:blip r:embed="rId1"/>
          <a:stretch/>
        </p:blipFill>
        <p:spPr>
          <a:xfrm>
            <a:off x="1748880" y="2247120"/>
            <a:ext cx="38808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4"/>
          <p:cNvSpPr/>
          <p:nvPr/>
        </p:nvSpPr>
        <p:spPr>
          <a:xfrm>
            <a:off x="777240" y="297180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Python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777240" y="335592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Core programming language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3447360" y="1874520"/>
            <a:ext cx="2605320" cy="196524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4361760" y="2052720"/>
            <a:ext cx="776520" cy="7765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5" name="Image 1" descr="/home/claude/aliya_ppt/icons/brain_6C63FF.png"/>
          <p:cNvPicPr/>
          <p:nvPr/>
        </p:nvPicPr>
        <p:blipFill>
          <a:blip r:embed="rId2"/>
          <a:stretch/>
        </p:blipFill>
        <p:spPr>
          <a:xfrm>
            <a:off x="4556160" y="2247120"/>
            <a:ext cx="38808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8"/>
          <p:cNvSpPr/>
          <p:nvPr/>
        </p:nvSpPr>
        <p:spPr>
          <a:xfrm>
            <a:off x="3584520" y="297180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Machine Learning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3584520" y="335592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Core algorithms &amp; concepts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6254640" y="1874520"/>
            <a:ext cx="2605320" cy="196524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7169040" y="2052720"/>
            <a:ext cx="776520" cy="7765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0" name="Image 2" descr="/home/claude/aliya_ppt/icons/project_diagram_6C63FF.png"/>
          <p:cNvPicPr/>
          <p:nvPr/>
        </p:nvPicPr>
        <p:blipFill>
          <a:blip r:embed="rId3"/>
          <a:stretch/>
        </p:blipFill>
        <p:spPr>
          <a:xfrm>
            <a:off x="7363080" y="2247120"/>
            <a:ext cx="38808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12"/>
          <p:cNvSpPr/>
          <p:nvPr/>
        </p:nvSpPr>
        <p:spPr>
          <a:xfrm>
            <a:off x="6391800" y="297180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Neural Networks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6391800" y="335592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Deep learning fundamentals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Shape 14"/>
          <p:cNvSpPr/>
          <p:nvPr/>
        </p:nvSpPr>
        <p:spPr>
          <a:xfrm>
            <a:off x="9061560" y="1874520"/>
            <a:ext cx="2605320" cy="196524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9975960" y="2052720"/>
            <a:ext cx="776520" cy="7765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5" name="Image 3" descr="/home/claude/aliya_ppt/icons/robot_6C63FF.png"/>
          <p:cNvPicPr/>
          <p:nvPr/>
        </p:nvPicPr>
        <p:blipFill>
          <a:blip r:embed="rId4"/>
          <a:stretch/>
        </p:blipFill>
        <p:spPr>
          <a:xfrm>
            <a:off x="10170360" y="2247120"/>
            <a:ext cx="38808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16"/>
          <p:cNvSpPr/>
          <p:nvPr/>
        </p:nvSpPr>
        <p:spPr>
          <a:xfrm>
            <a:off x="9198720" y="297180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AI Applications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9198720" y="335592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Applied, real-world use-cases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Shape 18"/>
          <p:cNvSpPr/>
          <p:nvPr/>
        </p:nvSpPr>
        <p:spPr>
          <a:xfrm>
            <a:off x="640080" y="4069080"/>
            <a:ext cx="2605320" cy="196524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Shape 19"/>
          <p:cNvSpPr/>
          <p:nvPr/>
        </p:nvSpPr>
        <p:spPr>
          <a:xfrm>
            <a:off x="1554480" y="4247280"/>
            <a:ext cx="776520" cy="7765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0" name="Image 4" descr="/home/claude/aliya_ppt/icons/chart_6C63FF.png"/>
          <p:cNvPicPr/>
          <p:nvPr/>
        </p:nvPicPr>
        <p:blipFill>
          <a:blip r:embed="rId5"/>
          <a:stretch/>
        </p:blipFill>
        <p:spPr>
          <a:xfrm>
            <a:off x="1748880" y="4441680"/>
            <a:ext cx="38808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20"/>
          <p:cNvSpPr/>
          <p:nvPr/>
        </p:nvSpPr>
        <p:spPr>
          <a:xfrm>
            <a:off x="777240" y="516636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Data Handling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777240" y="555048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Datasets &amp; preprocessing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3447360" y="4069080"/>
            <a:ext cx="2605320" cy="196524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Shape 23"/>
          <p:cNvSpPr/>
          <p:nvPr/>
        </p:nvSpPr>
        <p:spPr>
          <a:xfrm>
            <a:off x="4361760" y="4247280"/>
            <a:ext cx="776520" cy="7765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5" name="Image 5" descr="/home/claude/aliya_ppt/icons/layers_6C63FF.png"/>
          <p:cNvPicPr/>
          <p:nvPr/>
        </p:nvPicPr>
        <p:blipFill>
          <a:blip r:embed="rId6"/>
          <a:stretch/>
        </p:blipFill>
        <p:spPr>
          <a:xfrm>
            <a:off x="4556160" y="4441680"/>
            <a:ext cx="38808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24"/>
          <p:cNvSpPr/>
          <p:nvPr/>
        </p:nvSpPr>
        <p:spPr>
          <a:xfrm>
            <a:off x="3584520" y="516636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Model Building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3584520" y="555048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Training &amp; evaluation basics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6254640" y="4069080"/>
            <a:ext cx="2605320" cy="196524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Shape 27"/>
          <p:cNvSpPr/>
          <p:nvPr/>
        </p:nvSpPr>
        <p:spPr>
          <a:xfrm>
            <a:off x="7169040" y="4247280"/>
            <a:ext cx="776520" cy="7765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0" name="Image 6" descr="/home/claude/aliya_ppt/icons/cogs_6C63FF.png"/>
          <p:cNvPicPr/>
          <p:nvPr/>
        </p:nvPicPr>
        <p:blipFill>
          <a:blip r:embed="rId7"/>
          <a:stretch/>
        </p:blipFill>
        <p:spPr>
          <a:xfrm>
            <a:off x="7363080" y="4441680"/>
            <a:ext cx="38808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28"/>
          <p:cNvSpPr/>
          <p:nvPr/>
        </p:nvSpPr>
        <p:spPr>
          <a:xfrm>
            <a:off x="6391800" y="516636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Libraries &amp; Frameworks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Text 29"/>
          <p:cNvSpPr/>
          <p:nvPr/>
        </p:nvSpPr>
        <p:spPr>
          <a:xfrm>
            <a:off x="6391800" y="555048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Standard Python AI/ML tooling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Shape 30"/>
          <p:cNvSpPr/>
          <p:nvPr/>
        </p:nvSpPr>
        <p:spPr>
          <a:xfrm>
            <a:off x="9061560" y="4069080"/>
            <a:ext cx="2605320" cy="196524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Shape 31"/>
          <p:cNvSpPr/>
          <p:nvPr/>
        </p:nvSpPr>
        <p:spPr>
          <a:xfrm>
            <a:off x="9975960" y="4247280"/>
            <a:ext cx="776520" cy="7765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5" name="Image 7" descr="/home/claude/aliya_ppt/icons/check_circle_6C63FF.png"/>
          <p:cNvPicPr/>
          <p:nvPr/>
        </p:nvPicPr>
        <p:blipFill>
          <a:blip r:embed="rId8"/>
          <a:stretch/>
        </p:blipFill>
        <p:spPr>
          <a:xfrm>
            <a:off x="10170360" y="4441680"/>
            <a:ext cx="38808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32"/>
          <p:cNvSpPr/>
          <p:nvPr/>
        </p:nvSpPr>
        <p:spPr>
          <a:xfrm>
            <a:off x="9198720" y="5166360"/>
            <a:ext cx="2331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Assessments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9198720" y="5550480"/>
            <a:ext cx="2331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Module tests &amp; final validation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Text 34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Google AI-ML Virtual Internship  •  Gulshan Raj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 35"/>
          <p:cNvSpPr/>
          <p:nvPr/>
        </p:nvSpPr>
        <p:spPr>
          <a:xfrm>
            <a:off x="1127448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06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640080" y="5486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d9b5"/>
                </a:solidFill>
                <a:uFillTx/>
                <a:latin typeface="Calibri"/>
                <a:ea typeface="Calibri"/>
              </a:rPr>
              <a:t>METHODOLOGY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621720" y="86868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The 2-Month Learning Journey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777240" y="2084760"/>
            <a:ext cx="401760" cy="401760"/>
          </a:xfrm>
          <a:prstGeom prst="ellipse">
            <a:avLst/>
          </a:prstGeom>
          <a:solidFill>
            <a:srgbClr val="00d9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777240" y="208476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1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978120" y="2486880"/>
            <a:ext cx="360" cy="777240"/>
          </a:xfrm>
          <a:prstGeom prst="line">
            <a:avLst/>
          </a:prstGeom>
          <a:ln w="19050">
            <a:solidFill>
              <a:srgbClr val="3b3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1417320" y="1965960"/>
            <a:ext cx="9509040" cy="91368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1691640" y="2057400"/>
            <a:ext cx="896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d9b5"/>
                </a:solidFill>
                <a:uFillTx/>
                <a:latin typeface="Calibri"/>
                <a:ea typeface="Calibri"/>
              </a:rPr>
              <a:t>Month 1 — Foundations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1691640" y="2404800"/>
            <a:ext cx="8960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9c7f5"/>
                </a:solidFill>
                <a:uFillTx/>
                <a:latin typeface="Calibri"/>
                <a:ea typeface="Calibri"/>
              </a:rPr>
              <a:t>Python programming basics, core Machine Learning concepts, and an introduction to how AI systems are trained.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777240" y="3182040"/>
            <a:ext cx="401760" cy="401760"/>
          </a:xfrm>
          <a:prstGeom prst="ellipse">
            <a:avLst/>
          </a:prstGeom>
          <a:solidFill>
            <a:srgbClr val="00d9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777240" y="318204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2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978120" y="3584160"/>
            <a:ext cx="360" cy="777240"/>
          </a:xfrm>
          <a:prstGeom prst="line">
            <a:avLst/>
          </a:prstGeom>
          <a:ln w="19050">
            <a:solidFill>
              <a:srgbClr val="3b3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1417320" y="3063240"/>
            <a:ext cx="9509040" cy="91368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1691640" y="3154680"/>
            <a:ext cx="896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d9b5"/>
                </a:solidFill>
                <a:uFillTx/>
                <a:latin typeface="Calibri"/>
                <a:ea typeface="Calibri"/>
              </a:rPr>
              <a:t>Month 1 — Deep Dive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1691640" y="3502080"/>
            <a:ext cx="8960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9c7f5"/>
                </a:solidFill>
                <a:uFillTx/>
                <a:latin typeface="Calibri"/>
                <a:ea typeface="Calibri"/>
              </a:rPr>
              <a:t>Understanding Neural Networks — structure, layers, and how learning happens inside a model.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777240" y="4279320"/>
            <a:ext cx="401760" cy="401760"/>
          </a:xfrm>
          <a:prstGeom prst="ellipse">
            <a:avLst/>
          </a:prstGeom>
          <a:solidFill>
            <a:srgbClr val="00d9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777240" y="427932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3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978120" y="4681440"/>
            <a:ext cx="360" cy="777240"/>
          </a:xfrm>
          <a:prstGeom prst="line">
            <a:avLst/>
          </a:prstGeom>
          <a:ln w="19050">
            <a:solidFill>
              <a:srgbClr val="3b3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1417320" y="4160520"/>
            <a:ext cx="9509040" cy="91368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1691640" y="4251960"/>
            <a:ext cx="896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d9b5"/>
                </a:solidFill>
                <a:uFillTx/>
                <a:latin typeface="Calibri"/>
                <a:ea typeface="Calibri"/>
              </a:rPr>
              <a:t>Month 2 — Application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1691640" y="4599360"/>
            <a:ext cx="8960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9c7f5"/>
                </a:solidFill>
                <a:uFillTx/>
                <a:latin typeface="Calibri"/>
                <a:ea typeface="Calibri"/>
              </a:rPr>
              <a:t>Applying AI/ML concepts to hands-on exercises and mini practical tasks.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777240" y="5376600"/>
            <a:ext cx="401760" cy="401760"/>
          </a:xfrm>
          <a:prstGeom prst="ellipse">
            <a:avLst/>
          </a:prstGeom>
          <a:solidFill>
            <a:srgbClr val="00d9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777240" y="53766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4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Shape 22"/>
          <p:cNvSpPr/>
          <p:nvPr/>
        </p:nvSpPr>
        <p:spPr>
          <a:xfrm>
            <a:off x="1417320" y="5257800"/>
            <a:ext cx="9509040" cy="91368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1691640" y="5349240"/>
            <a:ext cx="896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d9b5"/>
                </a:solidFill>
                <a:uFillTx/>
                <a:latin typeface="Calibri"/>
                <a:ea typeface="Calibri"/>
              </a:rPr>
              <a:t>Month 2 — Assessment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4" name="Text 24"/>
          <p:cNvSpPr/>
          <p:nvPr/>
        </p:nvSpPr>
        <p:spPr>
          <a:xfrm>
            <a:off x="1691640" y="5696640"/>
            <a:ext cx="8960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9c7f5"/>
                </a:solidFill>
                <a:uFillTx/>
                <a:latin typeface="Calibri"/>
                <a:ea typeface="Calibri"/>
              </a:rPr>
              <a:t>Module assessments, final evaluation, and successful completion of the internship program.</a:t>
            </a:r>
            <a:endParaRPr b="0" lang="en-US" sz="1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aa0c8"/>
                </a:solidFill>
                <a:uFillTx/>
                <a:latin typeface="Calibri"/>
                <a:ea typeface="Calibri"/>
              </a:rPr>
              <a:t>Google AI-ML Virtual Internship  •  Gulshan Raj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6" name="Text 26"/>
          <p:cNvSpPr/>
          <p:nvPr/>
        </p:nvSpPr>
        <p:spPr>
          <a:xfrm>
            <a:off x="1127448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aa0c8"/>
                </a:solidFill>
                <a:uFillTx/>
                <a:latin typeface="Calibri"/>
                <a:ea typeface="Calibri"/>
              </a:rPr>
              <a:t>07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640080" y="5486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6c63ff"/>
                </a:solidFill>
                <a:uFillTx/>
                <a:latin typeface="Calibri"/>
                <a:ea typeface="Calibri"/>
              </a:rPr>
              <a:t>EXPECTED OUTCOMES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621720" y="86868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b1b3a"/>
                </a:solidFill>
                <a:uFillTx/>
                <a:latin typeface="Cambria"/>
                <a:ea typeface="Cambria"/>
              </a:rPr>
              <a:t>Skills &amp; Capabilities Gained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731520" y="1947600"/>
            <a:ext cx="456480" cy="456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0" name="Image 0" descr="/home/claude/aliya_ppt/icons/check_circle_00D9B5.png"/>
          <p:cNvPicPr/>
          <p:nvPr/>
        </p:nvPicPr>
        <p:blipFill>
          <a:blip r:embed="rId1"/>
          <a:stretch/>
        </p:blipFill>
        <p:spPr>
          <a:xfrm>
            <a:off x="846000" y="20620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Shape 3"/>
          <p:cNvSpPr/>
          <p:nvPr/>
        </p:nvSpPr>
        <p:spPr>
          <a:xfrm>
            <a:off x="640080" y="1920240"/>
            <a:ext cx="1088064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rotWithShape="0">
              <a:srgbClr val="1b1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>
            <a:off x="1005840" y="2020680"/>
            <a:ext cx="456480" cy="456480"/>
          </a:xfrm>
          <a:prstGeom prst="ellipse">
            <a:avLst/>
          </a:prstGeom>
          <a:solidFill>
            <a:srgbClr val="e7fb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3" name="Image 1" descr="/home/claude/aliya_ppt/icons/check_circle_00D9B5.png"/>
          <p:cNvPicPr/>
          <p:nvPr/>
        </p:nvPicPr>
        <p:blipFill>
          <a:blip r:embed="rId2"/>
          <a:stretch/>
        </p:blipFill>
        <p:spPr>
          <a:xfrm>
            <a:off x="1120320" y="2135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5"/>
          <p:cNvSpPr/>
          <p:nvPr/>
        </p:nvSpPr>
        <p:spPr>
          <a:xfrm>
            <a:off x="1691640" y="1920240"/>
            <a:ext cx="9600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Working knowledge of Python for AI &amp; Machine Learning development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731520" y="2724840"/>
            <a:ext cx="456480" cy="456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6" name="Image 2" descr="/home/claude/aliya_ppt/icons/check_circle_00D9B5.png"/>
          <p:cNvPicPr/>
          <p:nvPr/>
        </p:nvPicPr>
        <p:blipFill>
          <a:blip r:embed="rId3"/>
          <a:stretch/>
        </p:blipFill>
        <p:spPr>
          <a:xfrm>
            <a:off x="846000" y="28393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Shape 7"/>
          <p:cNvSpPr/>
          <p:nvPr/>
        </p:nvSpPr>
        <p:spPr>
          <a:xfrm>
            <a:off x="640080" y="2697480"/>
            <a:ext cx="1088064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rotWithShape="0">
              <a:srgbClr val="1b1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1005840" y="2797920"/>
            <a:ext cx="456480" cy="456480"/>
          </a:xfrm>
          <a:prstGeom prst="ellipse">
            <a:avLst/>
          </a:prstGeom>
          <a:solidFill>
            <a:srgbClr val="e7fb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9" name="Image 3" descr="/home/claude/aliya_ppt/icons/check_circle_00D9B5.png"/>
          <p:cNvPicPr/>
          <p:nvPr/>
        </p:nvPicPr>
        <p:blipFill>
          <a:blip r:embed="rId4"/>
          <a:stretch/>
        </p:blipFill>
        <p:spPr>
          <a:xfrm>
            <a:off x="1120320" y="291240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9"/>
          <p:cNvSpPr/>
          <p:nvPr/>
        </p:nvSpPr>
        <p:spPr>
          <a:xfrm>
            <a:off x="1691640" y="2697480"/>
            <a:ext cx="9600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Conceptual and practical understanding of core Machine Learning algorithms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731520" y="3502080"/>
            <a:ext cx="456480" cy="456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2" name="Image 4" descr="/home/claude/aliya_ppt/icons/check_circle_00D9B5.png"/>
          <p:cNvPicPr/>
          <p:nvPr/>
        </p:nvPicPr>
        <p:blipFill>
          <a:blip r:embed="rId5"/>
          <a:stretch/>
        </p:blipFill>
        <p:spPr>
          <a:xfrm>
            <a:off x="846000" y="36165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Shape 11"/>
          <p:cNvSpPr/>
          <p:nvPr/>
        </p:nvSpPr>
        <p:spPr>
          <a:xfrm>
            <a:off x="640080" y="3474720"/>
            <a:ext cx="1088064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rotWithShape="0">
              <a:srgbClr val="1b1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1005840" y="3575160"/>
            <a:ext cx="456480" cy="456480"/>
          </a:xfrm>
          <a:prstGeom prst="ellipse">
            <a:avLst/>
          </a:prstGeom>
          <a:solidFill>
            <a:srgbClr val="e7fb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5" name="Image 5" descr="/home/claude/aliya_ppt/icons/check_circle_00D9B5.png"/>
          <p:cNvPicPr/>
          <p:nvPr/>
        </p:nvPicPr>
        <p:blipFill>
          <a:blip r:embed="rId6"/>
          <a:stretch/>
        </p:blipFill>
        <p:spPr>
          <a:xfrm>
            <a:off x="1120320" y="36896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13"/>
          <p:cNvSpPr/>
          <p:nvPr/>
        </p:nvSpPr>
        <p:spPr>
          <a:xfrm>
            <a:off x="1691640" y="3474720"/>
            <a:ext cx="9600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Ability to explain the structure and working of Neural Networks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731520" y="4279320"/>
            <a:ext cx="456480" cy="456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8" name="Image 6" descr="/home/claude/aliya_ppt/icons/check_circle_00D9B5.png"/>
          <p:cNvPicPr/>
          <p:nvPr/>
        </p:nvPicPr>
        <p:blipFill>
          <a:blip r:embed="rId7"/>
          <a:stretch/>
        </p:blipFill>
        <p:spPr>
          <a:xfrm>
            <a:off x="846000" y="439380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Shape 15"/>
          <p:cNvSpPr/>
          <p:nvPr/>
        </p:nvSpPr>
        <p:spPr>
          <a:xfrm>
            <a:off x="640080" y="4251960"/>
            <a:ext cx="1088064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rotWithShape="0">
              <a:srgbClr val="1b1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Shape 16"/>
          <p:cNvSpPr/>
          <p:nvPr/>
        </p:nvSpPr>
        <p:spPr>
          <a:xfrm>
            <a:off x="1005840" y="4352400"/>
            <a:ext cx="456480" cy="456480"/>
          </a:xfrm>
          <a:prstGeom prst="ellipse">
            <a:avLst/>
          </a:prstGeom>
          <a:solidFill>
            <a:srgbClr val="e7fb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1" name="Image 7" descr="/home/claude/aliya_ppt/icons/check_circle_00D9B5.png"/>
          <p:cNvPicPr/>
          <p:nvPr/>
        </p:nvPicPr>
        <p:blipFill>
          <a:blip r:embed="rId8"/>
          <a:stretch/>
        </p:blipFill>
        <p:spPr>
          <a:xfrm>
            <a:off x="1120320" y="4466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 17"/>
          <p:cNvSpPr/>
          <p:nvPr/>
        </p:nvSpPr>
        <p:spPr>
          <a:xfrm>
            <a:off x="1691640" y="4251960"/>
            <a:ext cx="9600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Exposure to applying AI concepts to real-world style problems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731520" y="5056560"/>
            <a:ext cx="456480" cy="456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4" name="Image 8" descr="/home/claude/aliya_ppt/icons/check_circle_00D9B5.png"/>
          <p:cNvPicPr/>
          <p:nvPr/>
        </p:nvPicPr>
        <p:blipFill>
          <a:blip r:embed="rId9"/>
          <a:stretch/>
        </p:blipFill>
        <p:spPr>
          <a:xfrm>
            <a:off x="846000" y="51710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Shape 19"/>
          <p:cNvSpPr/>
          <p:nvPr/>
        </p:nvSpPr>
        <p:spPr>
          <a:xfrm>
            <a:off x="640080" y="5029200"/>
            <a:ext cx="1088064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rotWithShape="0">
              <a:srgbClr val="1b1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Shape 20"/>
          <p:cNvSpPr/>
          <p:nvPr/>
        </p:nvSpPr>
        <p:spPr>
          <a:xfrm>
            <a:off x="1005840" y="5129640"/>
            <a:ext cx="456480" cy="456480"/>
          </a:xfrm>
          <a:prstGeom prst="ellipse">
            <a:avLst/>
          </a:prstGeom>
          <a:solidFill>
            <a:srgbClr val="e7fb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7" name="Image 9" descr="/home/claude/aliya_ppt/icons/check_circle_00D9B5.png"/>
          <p:cNvPicPr/>
          <p:nvPr/>
        </p:nvPicPr>
        <p:blipFill>
          <a:blip r:embed="rId10"/>
          <a:stretch/>
        </p:blipFill>
        <p:spPr>
          <a:xfrm>
            <a:off x="1120320" y="52441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21"/>
          <p:cNvSpPr/>
          <p:nvPr/>
        </p:nvSpPr>
        <p:spPr>
          <a:xfrm>
            <a:off x="1691640" y="5029200"/>
            <a:ext cx="9600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Understanding of how models are trained, tested and evaluated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Shape 22"/>
          <p:cNvSpPr/>
          <p:nvPr/>
        </p:nvSpPr>
        <p:spPr>
          <a:xfrm>
            <a:off x="731520" y="5833800"/>
            <a:ext cx="456480" cy="456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0" name="Image 10" descr="/home/claude/aliya_ppt/icons/check_circle_00D9B5.png"/>
          <p:cNvPicPr/>
          <p:nvPr/>
        </p:nvPicPr>
        <p:blipFill>
          <a:blip r:embed="rId11"/>
          <a:stretch/>
        </p:blipFill>
        <p:spPr>
          <a:xfrm>
            <a:off x="846000" y="59482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Shape 23"/>
          <p:cNvSpPr/>
          <p:nvPr/>
        </p:nvSpPr>
        <p:spPr>
          <a:xfrm>
            <a:off x="640080" y="5806440"/>
            <a:ext cx="10880640" cy="657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rotWithShape="0">
              <a:srgbClr val="1b1b3a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Shape 24"/>
          <p:cNvSpPr/>
          <p:nvPr/>
        </p:nvSpPr>
        <p:spPr>
          <a:xfrm>
            <a:off x="1005840" y="5906880"/>
            <a:ext cx="456480" cy="456480"/>
          </a:xfrm>
          <a:prstGeom prst="ellipse">
            <a:avLst/>
          </a:prstGeom>
          <a:solidFill>
            <a:srgbClr val="e7fb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3" name="Image 11" descr="/home/claude/aliya_ppt/icons/check_circle_00D9B5.png"/>
          <p:cNvPicPr/>
          <p:nvPr/>
        </p:nvPicPr>
        <p:blipFill>
          <a:blip r:embed="rId12"/>
          <a:stretch/>
        </p:blipFill>
        <p:spPr>
          <a:xfrm>
            <a:off x="1120320" y="60213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25"/>
          <p:cNvSpPr/>
          <p:nvPr/>
        </p:nvSpPr>
        <p:spPr>
          <a:xfrm>
            <a:off x="1691640" y="5806440"/>
            <a:ext cx="9600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b1b3a"/>
                </a:solidFill>
                <a:uFillTx/>
                <a:latin typeface="Calibri"/>
                <a:ea typeface="Calibri"/>
              </a:rPr>
              <a:t>Successfully completed the 2-month AICTE &amp; ICAC approved AI Internship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Text 26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Google AI-ML Virtual Internship  •  Gulshan Raj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 27"/>
          <p:cNvSpPr/>
          <p:nvPr/>
        </p:nvSpPr>
        <p:spPr>
          <a:xfrm>
            <a:off x="1127448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uFillTx/>
                <a:latin typeface="Calibri"/>
                <a:ea typeface="Calibri"/>
              </a:rPr>
              <a:t>08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9966960" y="-1645920"/>
            <a:ext cx="4205520" cy="4205520"/>
          </a:xfrm>
          <a:prstGeom prst="ellipse">
            <a:avLst/>
          </a:prstGeom>
          <a:solidFill>
            <a:srgbClr val="242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640080" y="54864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00d9b5"/>
                </a:solidFill>
                <a:uFillTx/>
                <a:latin typeface="Calibri"/>
                <a:ea typeface="Calibri"/>
              </a:rPr>
              <a:t>CERTIFICATION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621720" y="868680"/>
            <a:ext cx="5485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Successfully Completed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0" name="Shape 3"/>
          <p:cNvSpPr/>
          <p:nvPr/>
        </p:nvSpPr>
        <p:spPr>
          <a:xfrm>
            <a:off x="722520" y="1938600"/>
            <a:ext cx="566280" cy="56628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41" name="Image 0" descr="/home/claude/aliya_ppt/icons/building_00D9B5.png"/>
          <p:cNvPicPr/>
          <p:nvPr/>
        </p:nvPicPr>
        <p:blipFill>
          <a:blip r:embed="rId1"/>
          <a:stretch/>
        </p:blipFill>
        <p:spPr>
          <a:xfrm>
            <a:off x="864000" y="208044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4"/>
          <p:cNvSpPr/>
          <p:nvPr/>
        </p:nvSpPr>
        <p:spPr>
          <a:xfrm>
            <a:off x="1463040" y="1965960"/>
            <a:ext cx="4205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9aa0c8"/>
                </a:solidFill>
                <a:uFillTx/>
                <a:latin typeface="Calibri"/>
                <a:ea typeface="Calibri"/>
              </a:rPr>
              <a:t>Organization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1463040" y="2221920"/>
            <a:ext cx="4296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Codec Technologies Pvt. Ltd.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4" name="Shape 6"/>
          <p:cNvSpPr/>
          <p:nvPr/>
        </p:nvSpPr>
        <p:spPr>
          <a:xfrm>
            <a:off x="722520" y="2807280"/>
            <a:ext cx="566280" cy="56628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45" name="Image 1" descr="/home/claude/aliya_ppt/icons/bullseye_00D9B5.png"/>
          <p:cNvPicPr/>
          <p:nvPr/>
        </p:nvPicPr>
        <p:blipFill>
          <a:blip r:embed="rId2"/>
          <a:stretch/>
        </p:blipFill>
        <p:spPr>
          <a:xfrm>
            <a:off x="864000" y="294912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7"/>
          <p:cNvSpPr/>
          <p:nvPr/>
        </p:nvSpPr>
        <p:spPr>
          <a:xfrm>
            <a:off x="1463040" y="2834640"/>
            <a:ext cx="4205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9aa0c8"/>
                </a:solidFill>
                <a:uFillTx/>
                <a:latin typeface="Calibri"/>
                <a:ea typeface="Calibri"/>
              </a:rPr>
              <a:t>Domain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1463040" y="3090600"/>
            <a:ext cx="4296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Artificial Intelligence Intern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8" name="Shape 9"/>
          <p:cNvSpPr/>
          <p:nvPr/>
        </p:nvSpPr>
        <p:spPr>
          <a:xfrm>
            <a:off x="722520" y="3675960"/>
            <a:ext cx="566280" cy="56628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49" name="Image 2" descr="/home/claude/aliya_ppt/icons/calendar_00D9B5.png"/>
          <p:cNvPicPr/>
          <p:nvPr/>
        </p:nvPicPr>
        <p:blipFill>
          <a:blip r:embed="rId3"/>
          <a:stretch/>
        </p:blipFill>
        <p:spPr>
          <a:xfrm>
            <a:off x="864000" y="38178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10"/>
          <p:cNvSpPr/>
          <p:nvPr/>
        </p:nvSpPr>
        <p:spPr>
          <a:xfrm>
            <a:off x="1463040" y="3703320"/>
            <a:ext cx="4205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9aa0c8"/>
                </a:solidFill>
                <a:uFillTx/>
                <a:latin typeface="Calibri"/>
                <a:ea typeface="Calibri"/>
              </a:rPr>
              <a:t>Duration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1463040" y="3959280"/>
            <a:ext cx="4296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2 Months  |  07 Jun 2026 – 08 Aug 2026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722520" y="4544640"/>
            <a:ext cx="566280" cy="56628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3" name="Image 3" descr="/home/claude/aliya_ppt/icons/certificate_00D9B5.png"/>
          <p:cNvPicPr/>
          <p:nvPr/>
        </p:nvPicPr>
        <p:blipFill>
          <a:blip r:embed="rId4"/>
          <a:stretch/>
        </p:blipFill>
        <p:spPr>
          <a:xfrm>
            <a:off x="864000" y="468648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13"/>
          <p:cNvSpPr/>
          <p:nvPr/>
        </p:nvSpPr>
        <p:spPr>
          <a:xfrm>
            <a:off x="1463040" y="4572000"/>
            <a:ext cx="4205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9aa0c8"/>
                </a:solidFill>
                <a:uFillTx/>
                <a:latin typeface="Calibri"/>
                <a:ea typeface="Calibri"/>
              </a:rPr>
              <a:t>Approved By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1463040" y="4827960"/>
            <a:ext cx="4296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AICTE &amp; ICAC  |  Google for Education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6" name="Shape 15"/>
          <p:cNvSpPr/>
          <p:nvPr/>
        </p:nvSpPr>
        <p:spPr>
          <a:xfrm>
            <a:off x="6172200" y="1417320"/>
            <a:ext cx="5485680" cy="38397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0">
            <a:noFill/>
          </a:ln>
          <a:effectLst>
            <a:outerShdw algn="bl" blurRad="177840" dir="5400000" dist="633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Text 16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aa0c8"/>
                </a:solidFill>
                <a:uFillTx/>
                <a:latin typeface="Calibri"/>
                <a:ea typeface="Calibri"/>
              </a:rPr>
              <a:t>Google AI-ML Virtual Internship  •  Gulshan Raj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8" name="Text 17"/>
          <p:cNvSpPr/>
          <p:nvPr/>
        </p:nvSpPr>
        <p:spPr>
          <a:xfrm>
            <a:off x="1127448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aa0c8"/>
                </a:solidFill>
                <a:uFillTx/>
                <a:latin typeface="Calibri"/>
                <a:ea typeface="Calibri"/>
              </a:rPr>
              <a:t>09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5"/>
          <a:stretch/>
        </p:blipFill>
        <p:spPr>
          <a:xfrm>
            <a:off x="6336720" y="1531080"/>
            <a:ext cx="5119920" cy="363420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9966960" y="-1645920"/>
            <a:ext cx="4388400" cy="4388400"/>
          </a:xfrm>
          <a:prstGeom prst="ellipse">
            <a:avLst/>
          </a:prstGeom>
          <a:solidFill>
            <a:srgbClr val="242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1" name="Shape 1"/>
          <p:cNvSpPr/>
          <p:nvPr/>
        </p:nvSpPr>
        <p:spPr>
          <a:xfrm>
            <a:off x="-1280160" y="5120640"/>
            <a:ext cx="3291120" cy="3291120"/>
          </a:xfrm>
          <a:prstGeom prst="ellipse">
            <a:avLst/>
          </a:prstGeom>
          <a:solidFill>
            <a:srgbClr val="2424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5500080" y="1371600"/>
            <a:ext cx="1188000" cy="1188000"/>
          </a:xfrm>
          <a:prstGeom prst="ellipse">
            <a:avLst/>
          </a:prstGeom>
          <a:solidFill>
            <a:srgbClr val="2b2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0" y="2743200"/>
            <a:ext cx="12188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Thank You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0" y="3611880"/>
            <a:ext cx="1218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aeb0d8"/>
                </a:solidFill>
                <a:uFillTx/>
                <a:latin typeface="Calibri"/>
                <a:ea typeface="Calibri"/>
              </a:rPr>
              <a:t>Artificial Intelligence Internship  |  Codec Technologies Pvt. Ltd.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5271480" y="4160520"/>
            <a:ext cx="1645920" cy="360"/>
          </a:xfrm>
          <a:prstGeom prst="line">
            <a:avLst/>
          </a:prstGeom>
          <a:ln w="31750">
            <a:solidFill>
              <a:srgbClr val="00d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0" y="4389120"/>
            <a:ext cx="1218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Gulshan Raj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0" y="4754880"/>
            <a:ext cx="1218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eb0d8"/>
                </a:solidFill>
                <a:uFillTx/>
                <a:latin typeface="Calibri"/>
                <a:ea typeface="Calibri"/>
              </a:rPr>
              <a:t>Roll No. 25SCS1003001289  |  IILM University</a:t>
            </a:r>
            <a:endParaRPr b="0" lang="en-US" sz="12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LibreOfficeDev/24.8.7.2.0$Android_AARCH64 LibreOffice_project/</Application>
  <AppVersion>15.0000</AppVersion>
  <Words>682</Words>
  <Paragraphs>134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2026-08-31T08:19:40Z</dcterms:created>
  <dc:creator>PptxGenJS</dc:creator>
  <dc:description/>
  <dc:language>en-US</dc:language>
  <cp:lastModifiedBy/>
  <dcterms:modified xsi:type="dcterms:W3CDTF">2026-09-03T10:28:44Z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Custom</vt:lpwstr>
  </property>
  <property fmtid="{D5CDD505-2E9C-101B-9397-08002B2CF9AE}" pid="4" name="Slides">
    <vt:r8>10</vt:r8>
  </property>
</Properties>
</file>